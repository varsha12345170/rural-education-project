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69" r:id="rId3"/>
    <p:sldId id="275" r:id="rId4"/>
    <p:sldId id="276" r:id="rId5"/>
    <p:sldId id="281" r:id="rId6"/>
    <p:sldId id="272" r:id="rId7"/>
    <p:sldId id="279" r:id="rId8"/>
    <p:sldId id="271" r:id="rId9"/>
    <p:sldId id="278" r:id="rId10"/>
    <p:sldId id="277" r:id="rId11"/>
    <p:sldId id="282" r:id="rId12"/>
    <p:sldId id="268" r:id="rId13"/>
    <p:sldId id="270" r:id="rId14"/>
    <p:sldId id="280"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C38383-3B2D-4D0F-A530-209F98DCA73D}" v="1" dt="2025-11-30T06:09:33.901"/>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91"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Capstoneproject-PSCS32/PSCS_32-CAPSTONE-PROJEC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989655" y="820093"/>
            <a:ext cx="10270603" cy="962898"/>
          </a:xfrm>
          <a:prstGeom prst="rect">
            <a:avLst/>
          </a:prstGeom>
          <a:noFill/>
          <a:ln>
            <a:noFill/>
          </a:ln>
        </p:spPr>
        <p:txBody>
          <a:bodyPr spcFirstLastPara="1" wrap="square" lIns="91425" tIns="45700" rIns="91425" bIns="45700" anchor="ctr" anchorCtr="0">
            <a:noAutofit/>
          </a:bodyPr>
          <a:lstStyle/>
          <a:p>
            <a:pPr lvl="0" algn="ctr"/>
            <a:r>
              <a:rPr lang="en-US" sz="2200" dirty="0">
                <a:solidFill>
                  <a:schemeClr val="tx1"/>
                </a:solidFill>
                <a:latin typeface="Times New Roman" panose="02020603050405020304" pitchFamily="18" charset="0"/>
                <a:cs typeface="Times New Roman" panose="02020603050405020304" pitchFamily="18" charset="0"/>
              </a:rPr>
              <a:t>Ideate and Implement a System to Enhance the Quality of Education in Rural Areas</a:t>
            </a:r>
            <a:endParaRPr sz="22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636659" y="1688966"/>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r>
              <a:rPr lang="en-GB" sz="1800" dirty="0">
                <a:solidFill>
                  <a:schemeClr val="tx1"/>
                </a:solidFill>
                <a:latin typeface="Cambria" panose="02040503050406030204" pitchFamily="18" charset="0"/>
                <a:ea typeface="Cambria" panose="02040503050406030204" pitchFamily="18" charset="0"/>
              </a:rPr>
              <a:t>IST_9</a:t>
            </a:r>
            <a:endParaRPr sz="1800" dirty="0">
              <a:solidFill>
                <a:schemeClr val="tx1"/>
              </a:solidFill>
              <a:latin typeface="Cambria" panose="02040503050406030204" pitchFamily="18" charset="0"/>
              <a:ea typeface="Cambria" panose="02040503050406030204" pitchFamily="18" charset="0"/>
            </a:endParaRPr>
          </a:p>
        </p:txBody>
      </p:sp>
      <p:sp>
        <p:nvSpPr>
          <p:cNvPr id="90" name="Google Shape;90;p13"/>
          <p:cNvSpPr txBox="1"/>
          <p:nvPr/>
        </p:nvSpPr>
        <p:spPr>
          <a:xfrm>
            <a:off x="6765760" y="2609793"/>
            <a:ext cx="5514300" cy="27432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chemeClr val="tx1"/>
                </a:solidFill>
                <a:latin typeface="Cambria" panose="02040503050406030204" pitchFamily="18" charset="0"/>
                <a:ea typeface="Cambria" panose="02040503050406030204" pitchFamily="18" charset="0"/>
                <a:cs typeface="Verdana"/>
                <a:sym typeface="Verdana"/>
              </a:rPr>
              <a:t>     Ms. Monisha Gupta</a:t>
            </a:r>
            <a:endParaRPr lang="en-GB" sz="1700" b="1" dirty="0">
              <a:solidFill>
                <a:schemeClr val="tx1"/>
              </a:solidFill>
              <a:latin typeface="Cambria" panose="02040503050406030204" pitchFamily="18" charset="0"/>
              <a:ea typeface="Cambria" panose="02040503050406030204" pitchFamily="18" charset="0"/>
              <a:cs typeface="Verdana"/>
              <a:sym typeface="Verdana"/>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chemeClr val="bg2">
                    <a:lumMod val="75000"/>
                  </a:schemeClr>
                </a:solidFill>
                <a:latin typeface="Cambria" panose="02040503050406030204" pitchFamily="18" charset="0"/>
                <a:ea typeface="Cambria" panose="02040503050406030204" pitchFamily="18" charset="0"/>
                <a:cs typeface="Verdana"/>
                <a:sym typeface="Verdana"/>
              </a:rPr>
              <a:t>Assistant Professor</a:t>
            </a:r>
            <a:endParaRPr dirty="0">
              <a:solidFill>
                <a:schemeClr val="bg2">
                  <a:lumMod val="75000"/>
                </a:schemeClr>
              </a:solidFill>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006142474"/>
              </p:ext>
            </p:extLst>
          </p:nvPr>
        </p:nvGraphicFramePr>
        <p:xfrm>
          <a:off x="30145" y="2331750"/>
          <a:ext cx="5737609" cy="2743260"/>
        </p:xfrm>
        <a:graphic>
          <a:graphicData uri="http://schemas.openxmlformats.org/drawingml/2006/table">
            <a:tbl>
              <a:tblPr firstRow="1" bandRow="1">
                <a:noFill/>
                <a:tableStyleId>{57690726-49DA-4552-BDEB-330DD8EA8BD9}</a:tableStyleId>
              </a:tblPr>
              <a:tblGrid>
                <a:gridCol w="2413838">
                  <a:extLst>
                    <a:ext uri="{9D8B030D-6E8A-4147-A177-3AD203B41FA5}">
                      <a16:colId xmlns:a16="http://schemas.microsoft.com/office/drawing/2014/main" val="20000"/>
                    </a:ext>
                  </a:extLst>
                </a:gridCol>
                <a:gridCol w="3323771">
                  <a:extLst>
                    <a:ext uri="{9D8B030D-6E8A-4147-A177-3AD203B41FA5}">
                      <a16:colId xmlns:a16="http://schemas.microsoft.com/office/drawing/2014/main" val="20001"/>
                    </a:ext>
                  </a:extLst>
                </a:gridCol>
              </a:tblGrid>
              <a:tr h="304666">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4666">
                <a:tc>
                  <a:txBody>
                    <a:bodyPr/>
                    <a:lstStyle/>
                    <a:p>
                      <a:pPr marL="0" marR="0" lvl="0" indent="0" algn="ctr" rtl="0">
                        <a:spcBef>
                          <a:spcPts val="0"/>
                        </a:spcBef>
                        <a:spcAft>
                          <a:spcPts val="0"/>
                        </a:spcAft>
                        <a:buFont typeface="+mj-lt"/>
                        <a:buNone/>
                      </a:pPr>
                      <a:r>
                        <a:rPr lang="en-IN" sz="1800" b="1" u="none" strike="noStrike" cap="none" dirty="0">
                          <a:latin typeface="Times New Roman" panose="02020603050405020304" pitchFamily="18" charset="0"/>
                          <a:cs typeface="Times New Roman" panose="02020603050405020304" pitchFamily="18" charset="0"/>
                        </a:rPr>
                        <a:t>20221IST0009</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YASHWITHA T</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61653">
                <a:tc>
                  <a:txBody>
                    <a:bodyPr/>
                    <a:lstStyle/>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20221IST0011</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IN" sz="1800" u="none" strike="noStrike" cap="none" dirty="0"/>
                    </a:p>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GUDDITI YASHWANTH</a:t>
                      </a:r>
                    </a:p>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 KUMAR</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4666">
                <a:tc>
                  <a:txBody>
                    <a:bodyPr/>
                    <a:lstStyle/>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20221IST0036</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VARSHA B</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466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466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669401"/>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accent1"/>
                </a:solidFill>
                <a:latin typeface="Cambria" panose="02040503050406030204" pitchFamily="18" charset="0"/>
                <a:ea typeface="Cambria" panose="02040503050406030204" pitchFamily="18" charset="0"/>
                <a:cs typeface="Verdana"/>
                <a:sym typeface="Verdana"/>
              </a:rPr>
              <a:t> B.TECH</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 Dr. Pallavi R</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 Ms. Benitha </a:t>
            </a:r>
            <a:r>
              <a:rPr lang="en-US" sz="1800" b="1" i="0" u="none" strike="noStrike" cap="none" dirty="0" err="1">
                <a:solidFill>
                  <a:srgbClr val="FF0000"/>
                </a:solidFill>
                <a:latin typeface="Cambria" panose="02040503050406030204" pitchFamily="18" charset="0"/>
                <a:ea typeface="Cambria" panose="02040503050406030204" pitchFamily="18" charset="0"/>
                <a:cs typeface="Verdana"/>
                <a:sym typeface="Verdana"/>
              </a:rPr>
              <a:t>Christinal</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 J</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Problem Statement Number:  </a:t>
            </a:r>
            <a:r>
              <a:rPr lang="en-IN" dirty="0">
                <a:latin typeface="Times New Roman" panose="02020603050405020304" pitchFamily="18" charset="0"/>
                <a:cs typeface="Times New Roman" panose="02020603050405020304" pitchFamily="18" charset="0"/>
              </a:rPr>
              <a:t>PSCS_32</a:t>
            </a:r>
            <a:r>
              <a:rPr lang="en-GB" dirty="0">
                <a:latin typeface="Times New Roman" panose="02020603050405020304" pitchFamily="18" charset="0"/>
                <a:ea typeface="Cambria" panose="02040503050406030204" pitchFamily="18" charset="0"/>
                <a:cs typeface="Times New Roman" panose="02020603050405020304" pitchFamily="18" charset="0"/>
              </a:rPr>
              <a:t> </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762000" y="952500"/>
            <a:ext cx="9899301" cy="4684626"/>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Organization</a:t>
            </a:r>
            <a:r>
              <a:rPr lang="en-US" sz="1800" dirty="0">
                <a:latin typeface="Times New Roman" panose="02020603050405020304" pitchFamily="18" charset="0"/>
                <a:ea typeface="Cambria" panose="02040503050406030204" pitchFamily="18" charset="0"/>
                <a:cs typeface="Times New Roman" panose="02020603050405020304" pitchFamily="18" charset="0"/>
              </a:rPr>
              <a:t>:   Government of Kerala</a:t>
            </a:r>
          </a:p>
          <a:p>
            <a:pPr marL="342900" lvl="0" indent="-190500" algn="just">
              <a:lnSpc>
                <a:spcPct val="200000"/>
              </a:lnSpc>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Category (Hardware / Software / Both) </a:t>
            </a:r>
            <a:r>
              <a:rPr lang="en-US" sz="1800" dirty="0">
                <a:latin typeface="Times New Roman" panose="02020603050405020304" pitchFamily="18" charset="0"/>
                <a:ea typeface="Cambria" panose="02040503050406030204" pitchFamily="18" charset="0"/>
                <a:cs typeface="Times New Roman" panose="02020603050405020304" pitchFamily="18" charset="0"/>
              </a:rPr>
              <a:t>:   Software</a:t>
            </a:r>
          </a:p>
          <a:p>
            <a:pPr marL="342900" lvl="0" indent="-190500" algn="just">
              <a:lnSpc>
                <a:spcPct val="200000"/>
              </a:lnSpc>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Problem Description:</a:t>
            </a:r>
          </a:p>
          <a:p>
            <a:pPr marL="342900" lvl="0" indent="-190500" algn="just">
              <a:lnSpc>
                <a:spcPct val="200000"/>
              </a:lnSpc>
              <a:spcBef>
                <a:spcPts val="0"/>
              </a:spcBef>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Ideate and implement a system to enhance the quality of education in rural areas. The aim of the system is not only to improve literacy rates but also to strengthen the overall learning experience for rural students. This includes developing their communication skills, enhancing subject knowledge, and providing access to modern educational resources. The system will focus on bridging the gap between urban and rural education by offering both online and offline learning opportunities. It will also promote skill development, mentorship, and awareness about government schemes, ultimately contributing to the personal and professional growth of the targeted community.</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21D80-435A-7967-86E9-1CB2D2A06E9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r>
              <a:rPr lang="en-IN" dirty="0"/>
              <a:t> </a:t>
            </a:r>
          </a:p>
        </p:txBody>
      </p:sp>
      <p:sp>
        <p:nvSpPr>
          <p:cNvPr id="4" name="Rectangle 1">
            <a:extLst>
              <a:ext uri="{FF2B5EF4-FFF2-40B4-BE49-F238E27FC236}">
                <a16:creationId xmlns:a16="http://schemas.microsoft.com/office/drawing/2014/main" id="{D985A655-41B6-F3D0-E5FC-248E64CA114F}"/>
              </a:ext>
            </a:extLst>
          </p:cNvPr>
          <p:cNvSpPr>
            <a:spLocks noGrp="1" noChangeArrowheads="1"/>
          </p:cNvSpPr>
          <p:nvPr>
            <p:ph type="body" idx="1"/>
          </p:nvPr>
        </p:nvSpPr>
        <p:spPr bwMode="auto">
          <a:xfrm>
            <a:off x="501300" y="1070154"/>
            <a:ext cx="1039111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develop a web-based learning system for rural students.</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provide educational content offline without internet dependency.</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allow teachers to upload lessons and quizzes easily.</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enable students to access lessons and take tests on any device.</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track student progress and show reports through charts.</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make the system low-cost, simple, and easy to use.</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support learning even in areas with limited electricity and network.</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3906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344B8-5F91-5582-6888-072866AB73F3}"/>
              </a:ext>
            </a:extLst>
          </p:cNvPr>
          <p:cNvSpPr>
            <a:spLocks noGrp="1"/>
          </p:cNvSpPr>
          <p:nvPr>
            <p:ph type="title"/>
          </p:nvPr>
        </p:nvSpPr>
        <p:spPr>
          <a:xfrm>
            <a:off x="973573" y="144008"/>
            <a:ext cx="10668000" cy="770391"/>
          </a:xfrm>
        </p:spPr>
        <p:txBody>
          <a:bodyPr/>
          <a:lstStyle/>
          <a:p>
            <a:r>
              <a:rPr lang="en-IN" dirty="0">
                <a:latin typeface="Times New Roman" panose="02020603050405020304" pitchFamily="18" charset="0"/>
                <a:cs typeface="Times New Roman" panose="02020603050405020304" pitchFamily="18" charset="0"/>
              </a:rPr>
              <a:t>Background and Related work for title Selection</a:t>
            </a:r>
          </a:p>
        </p:txBody>
      </p:sp>
      <p:sp>
        <p:nvSpPr>
          <p:cNvPr id="3" name="Text Placeholder 2">
            <a:extLst>
              <a:ext uri="{FF2B5EF4-FFF2-40B4-BE49-F238E27FC236}">
                <a16:creationId xmlns:a16="http://schemas.microsoft.com/office/drawing/2014/main" id="{EFBC6DA6-11FD-F233-7DCE-5AEB3F59734A}"/>
              </a:ext>
            </a:extLst>
          </p:cNvPr>
          <p:cNvSpPr>
            <a:spLocks noGrp="1"/>
          </p:cNvSpPr>
          <p:nvPr>
            <p:ph type="body" idx="1"/>
          </p:nvPr>
        </p:nvSpPr>
        <p:spPr>
          <a:xfrm>
            <a:off x="762000" y="1474597"/>
            <a:ext cx="10668000" cy="4953000"/>
          </a:xfrm>
        </p:spPr>
        <p:txBody>
          <a:bodyPr>
            <a:normAutofit/>
          </a:bodyPr>
          <a:lstStyle/>
          <a:p>
            <a:pPr marL="76200" indent="0">
              <a:buNone/>
            </a:pPr>
            <a:r>
              <a:rPr lang="en-US" sz="2000" b="1" dirty="0">
                <a:latin typeface="Times New Roman" panose="02020603050405020304" pitchFamily="18" charset="0"/>
                <a:cs typeface="Times New Roman" panose="02020603050405020304" pitchFamily="18" charset="0"/>
              </a:rPr>
              <a:t>Background</a:t>
            </a:r>
          </a:p>
          <a:p>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Lack of access to quality study material</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Limited availability of skilled teachers and mentors</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Poor internet connectivity</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Low awareness about government schemes and employment opportunities</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SDG 4: Ensure inclusive and equitable quality education for all</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SDG 8: Promote sustained, inclusive economic growth and employment</a:t>
            </a:r>
          </a:p>
          <a:p>
            <a:endParaRPr lang="en-US" sz="2000" dirty="0">
              <a:latin typeface="Times New Roman" panose="02020603050405020304" pitchFamily="18" charset="0"/>
              <a:cs typeface="Times New Roman" panose="02020603050405020304" pitchFamily="18" charset="0"/>
            </a:endParaRPr>
          </a:p>
          <a:p>
            <a:pPr marL="76200" indent="0">
              <a:buNone/>
            </a:pPr>
            <a:r>
              <a:rPr lang="en-US" sz="20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9100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E8EBC-6E04-B8ED-353C-84928A89127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Background and Related work for title Selection (</a:t>
            </a:r>
            <a:r>
              <a:rPr lang="en-IN" dirty="0" err="1">
                <a:latin typeface="Times New Roman" panose="02020603050405020304" pitchFamily="18" charset="0"/>
                <a:cs typeface="Times New Roman" panose="02020603050405020304" pitchFamily="18" charset="0"/>
              </a:rPr>
              <a:t>contd</a:t>
            </a:r>
            <a:r>
              <a:rPr lang="en-IN" dirty="0">
                <a:latin typeface="Times New Roman" panose="02020603050405020304" pitchFamily="18" charset="0"/>
                <a:cs typeface="Times New Roman" panose="02020603050405020304" pitchFamily="18" charset="0"/>
              </a:rPr>
              <a:t>….) </a:t>
            </a:r>
            <a:endParaRPr lang="en-IN" dirty="0"/>
          </a:p>
        </p:txBody>
      </p:sp>
      <p:sp>
        <p:nvSpPr>
          <p:cNvPr id="3" name="Text Placeholder 2">
            <a:extLst>
              <a:ext uri="{FF2B5EF4-FFF2-40B4-BE49-F238E27FC236}">
                <a16:creationId xmlns:a16="http://schemas.microsoft.com/office/drawing/2014/main" id="{5F010711-B0D6-CDA8-8439-D7C9C68F6CC9}"/>
              </a:ext>
            </a:extLst>
          </p:cNvPr>
          <p:cNvSpPr>
            <a:spLocks noGrp="1"/>
          </p:cNvSpPr>
          <p:nvPr>
            <p:ph type="body" idx="1"/>
          </p:nvPr>
        </p:nvSpPr>
        <p:spPr/>
        <p:txBody>
          <a:bodyPr>
            <a:normAutofit lnSpcReduction="10000"/>
          </a:bodyPr>
          <a:lstStyle/>
          <a:p>
            <a:pPr marL="76200" indent="0">
              <a:buNone/>
            </a:pPr>
            <a:r>
              <a:rPr lang="en-US" sz="2200" b="1" dirty="0">
                <a:latin typeface="Times New Roman" panose="02020603050405020304" pitchFamily="18" charset="0"/>
                <a:cs typeface="Times New Roman" panose="02020603050405020304" pitchFamily="18" charset="0"/>
              </a:rPr>
              <a:t>Related Work</a:t>
            </a:r>
          </a:p>
          <a:p>
            <a:endParaRPr lang="en-US" sz="2200" dirty="0">
              <a:latin typeface="Times New Roman" panose="02020603050405020304" pitchFamily="18" charset="0"/>
              <a:cs typeface="Times New Roman" panose="02020603050405020304" pitchFamily="18" charset="0"/>
            </a:endParaRPr>
          </a:p>
          <a:p>
            <a:pPr marL="76200" indent="0">
              <a:buNone/>
            </a:pPr>
            <a:r>
              <a:rPr lang="en-US" sz="2200" b="1" dirty="0">
                <a:latin typeface="Times New Roman" panose="02020603050405020304" pitchFamily="18" charset="0"/>
                <a:cs typeface="Times New Roman" panose="02020603050405020304" pitchFamily="18" charset="0"/>
              </a:rPr>
              <a:t>DIKSHA (Govt. of India)</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Provides digital resources for teachers and students, but lacks personalized mentoring and offline support.</a:t>
            </a:r>
          </a:p>
          <a:p>
            <a:pPr>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76200" indent="0">
              <a:buNone/>
            </a:pPr>
            <a:r>
              <a:rPr lang="en-US" sz="2200" b="1" dirty="0">
                <a:latin typeface="Times New Roman" panose="02020603050405020304" pitchFamily="18" charset="0"/>
                <a:cs typeface="Times New Roman" panose="02020603050405020304" pitchFamily="18" charset="0"/>
              </a:rPr>
              <a:t>Khan Academy</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Offers high-quality video lessons, but requires strong internet connectivity and does not support regional languages.</a:t>
            </a:r>
          </a:p>
          <a:p>
            <a:pPr>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76200" indent="0">
              <a:buNone/>
            </a:pPr>
            <a:r>
              <a:rPr lang="en-US" sz="2200" b="1" dirty="0">
                <a:latin typeface="Times New Roman" panose="02020603050405020304" pitchFamily="18" charset="0"/>
                <a:cs typeface="Times New Roman" panose="02020603050405020304" pitchFamily="18" charset="0"/>
              </a:rPr>
              <a:t>Digital Kerala Mission</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Aims for digital literacy, but is not fully integrated with career guidance, scholarships, or mentorship systems.</a:t>
            </a:r>
          </a:p>
          <a:p>
            <a:endParaRPr lang="en-IN" dirty="0"/>
          </a:p>
        </p:txBody>
      </p:sp>
    </p:spTree>
    <p:extLst>
      <p:ext uri="{BB962C8B-B14F-4D97-AF65-F5344CB8AC3E}">
        <p14:creationId xmlns:p14="http://schemas.microsoft.com/office/powerpoint/2010/main" val="2664023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762000" y="83719"/>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Analysis of Problem Statement </a:t>
            </a:r>
          </a:p>
        </p:txBody>
      </p:sp>
      <p:sp>
        <p:nvSpPr>
          <p:cNvPr id="115" name="Google Shape;115;p17"/>
          <p:cNvSpPr txBox="1">
            <a:spLocks noGrp="1"/>
          </p:cNvSpPr>
          <p:nvPr>
            <p:ph type="body" idx="1"/>
          </p:nvPr>
        </p:nvSpPr>
        <p:spPr>
          <a:xfrm>
            <a:off x="762000" y="126358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lnSpc>
                <a:spcPct val="200000"/>
              </a:lnSpc>
              <a:spcBef>
                <a:spcPts val="0"/>
              </a:spcBef>
              <a:buSzPct val="100000"/>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Challenges in Rural Education:</a:t>
            </a:r>
          </a:p>
          <a:p>
            <a:pPr marL="609600" indent="-457200" algn="just">
              <a:lnSpc>
                <a:spcPct val="200000"/>
              </a:lnSpc>
              <a:spcBef>
                <a:spcPts val="0"/>
              </a:spcBef>
              <a:buSzPct val="100000"/>
              <a:buFont typeface="Wingdings" panose="05000000000000000000" pitchFamily="2" charset="2"/>
              <a:buChar char="q"/>
            </a:pPr>
            <a:r>
              <a:rPr lang="en-US" sz="2000" dirty="0">
                <a:latin typeface="Times New Roman" panose="02020603050405020304" pitchFamily="18" charset="0"/>
                <a:ea typeface="Cambria" panose="02040503050406030204" pitchFamily="18" charset="0"/>
                <a:cs typeface="Times New Roman" panose="02020603050405020304" pitchFamily="18" charset="0"/>
              </a:rPr>
              <a:t> Lack of qualified teachers and mentors.</a:t>
            </a:r>
          </a:p>
          <a:p>
            <a:pPr marL="609600" indent="-457200" algn="just">
              <a:lnSpc>
                <a:spcPct val="200000"/>
              </a:lnSpc>
              <a:spcBef>
                <a:spcPts val="0"/>
              </a:spcBef>
              <a:buSzPct val="100000"/>
              <a:buFont typeface="Wingdings" panose="05000000000000000000" pitchFamily="2" charset="2"/>
              <a:buChar char="q"/>
            </a:pPr>
            <a:r>
              <a:rPr lang="en-US" sz="2000" dirty="0">
                <a:latin typeface="Times New Roman" panose="02020603050405020304" pitchFamily="18" charset="0"/>
                <a:ea typeface="Cambria" panose="02040503050406030204" pitchFamily="18" charset="0"/>
                <a:cs typeface="Times New Roman" panose="02020603050405020304" pitchFamily="18" charset="0"/>
              </a:rPr>
              <a:t> Poor internet connectivity and limited electricity supply.</a:t>
            </a:r>
          </a:p>
          <a:p>
            <a:pPr marL="609600" indent="-457200" algn="just">
              <a:lnSpc>
                <a:spcPct val="200000"/>
              </a:lnSpc>
              <a:spcBef>
                <a:spcPts val="0"/>
              </a:spcBef>
              <a:buSzPct val="100000"/>
              <a:buFont typeface="Wingdings" panose="05000000000000000000" pitchFamily="2" charset="2"/>
              <a:buChar char="q"/>
            </a:pPr>
            <a:r>
              <a:rPr lang="en-US" sz="2000" dirty="0">
                <a:latin typeface="Times New Roman" panose="02020603050405020304" pitchFamily="18" charset="0"/>
                <a:ea typeface="Cambria" panose="02040503050406030204" pitchFamily="18" charset="0"/>
                <a:cs typeface="Times New Roman" panose="02020603050405020304" pitchFamily="18" charset="0"/>
              </a:rPr>
              <a:t> Shortage of updated study materials and learning resources.</a:t>
            </a:r>
          </a:p>
          <a:p>
            <a:pPr marL="609600" indent="-457200" algn="just">
              <a:lnSpc>
                <a:spcPct val="200000"/>
              </a:lnSpc>
              <a:spcBef>
                <a:spcPts val="0"/>
              </a:spcBef>
              <a:buSzPct val="100000"/>
              <a:buFont typeface="Wingdings" panose="05000000000000000000" pitchFamily="2" charset="2"/>
              <a:buChar char="q"/>
            </a:pPr>
            <a:r>
              <a:rPr lang="en-US" sz="2000" dirty="0">
                <a:latin typeface="Times New Roman" panose="02020603050405020304" pitchFamily="18" charset="0"/>
                <a:ea typeface="Cambria" panose="02040503050406030204" pitchFamily="18" charset="0"/>
                <a:cs typeface="Times New Roman" panose="02020603050405020304" pitchFamily="18" charset="0"/>
              </a:rPr>
              <a:t> Low awareness of scholarships, grants, and job opportunities</a:t>
            </a:r>
            <a:r>
              <a:rPr lang="en-US" dirty="0">
                <a:latin typeface="Times New Roman" panose="02020603050405020304" pitchFamily="18" charset="0"/>
                <a:ea typeface="Cambria" panose="02040503050406030204" pitchFamily="18" charset="0"/>
                <a:cs typeface="Times New Roman" panose="02020603050405020304" pitchFamily="18" charset="0"/>
              </a:rPr>
              <a:t>.</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AB65E-38FF-FA24-9378-B4F20862F41C}"/>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IN" dirty="0"/>
          </a:p>
        </p:txBody>
      </p:sp>
      <p:sp>
        <p:nvSpPr>
          <p:cNvPr id="3" name="Text Placeholder 2">
            <a:extLst>
              <a:ext uri="{FF2B5EF4-FFF2-40B4-BE49-F238E27FC236}">
                <a16:creationId xmlns:a16="http://schemas.microsoft.com/office/drawing/2014/main" id="{46B189E8-04FA-9992-CF65-D3C30898BB1B}"/>
              </a:ext>
            </a:extLst>
          </p:cNvPr>
          <p:cNvSpPr>
            <a:spLocks noGrp="1"/>
          </p:cNvSpPr>
          <p:nvPr>
            <p:ph type="body" idx="1"/>
          </p:nvPr>
        </p:nvSpPr>
        <p:spPr>
          <a:xfrm>
            <a:off x="812800" y="1143001"/>
            <a:ext cx="10170048" cy="4293157"/>
          </a:xfrm>
        </p:spPr>
        <p:txBody>
          <a:bodyPr>
            <a:normAutofit fontScale="25000" lnSpcReduction="20000"/>
          </a:bodyPr>
          <a:lstStyle/>
          <a:p>
            <a:pPr marL="152400" lvl="0" indent="0" algn="just">
              <a:lnSpc>
                <a:spcPct val="200000"/>
              </a:lnSpc>
              <a:spcBef>
                <a:spcPts val="0"/>
              </a:spcBef>
              <a:buSzPct val="100000"/>
              <a:buNone/>
            </a:pPr>
            <a:r>
              <a:rPr lang="en-US" sz="8000" b="1" dirty="0">
                <a:latin typeface="Times New Roman" panose="02020603050405020304" pitchFamily="18" charset="0"/>
                <a:ea typeface="Cambria" panose="02040503050406030204" pitchFamily="18" charset="0"/>
                <a:cs typeface="Times New Roman" panose="02020603050405020304" pitchFamily="18" charset="0"/>
              </a:rPr>
              <a:t>Proposed Solution:</a:t>
            </a:r>
            <a:endParaRPr lang="en-US" sz="8000"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Develop a web-based platform (with offline mode) for rural learners.</a:t>
            </a: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Provide study materials, videos, and interactive quizzes accessible without constant internet.</a:t>
            </a: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Include a mentorship module for personalized guidance.</a:t>
            </a: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Enable progress tracking and analytics for teachers and students.</a:t>
            </a: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Add a job and government schemes section to increase career awareness</a:t>
            </a:r>
            <a:r>
              <a:rPr lang="en-US" sz="9600" dirty="0">
                <a:latin typeface="Times New Roman" panose="02020603050405020304" pitchFamily="18" charset="0"/>
                <a:ea typeface="Cambria" panose="020405030504060302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825949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762000" y="9376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1033307" y="1076639"/>
            <a:ext cx="9788769" cy="4061627"/>
          </a:xfrm>
          <a:prstGeom prst="rect">
            <a:avLst/>
          </a:prstGeom>
          <a:noFill/>
          <a:ln>
            <a:noFill/>
          </a:ln>
        </p:spPr>
        <p:txBody>
          <a:bodyPr spcFirstLastPara="1" wrap="square" lIns="91425" tIns="45700" rIns="91425" bIns="45700" anchor="t" anchorCtr="0">
            <a:normAutofit fontScale="25000" lnSpcReduction="20000"/>
          </a:bodyPr>
          <a:lstStyle/>
          <a:p>
            <a:pPr marL="342900" lvl="0" indent="-190500" algn="just">
              <a:lnSpc>
                <a:spcPct val="200000"/>
              </a:lnSpc>
              <a:spcBef>
                <a:spcPts val="0"/>
              </a:spcBef>
              <a:buSzPct val="100000"/>
              <a:buNone/>
            </a:pPr>
            <a:r>
              <a:rPr lang="en-IN" sz="8000" b="1" dirty="0">
                <a:latin typeface="Times New Roman" panose="02020603050405020304" pitchFamily="18" charset="0"/>
                <a:ea typeface="Cambria" panose="02040503050406030204" pitchFamily="18" charset="0"/>
                <a:cs typeface="Times New Roman" panose="02020603050405020304" pitchFamily="18" charset="0"/>
              </a:rPr>
              <a:t>Technology Stack:</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Frontend: React.js (web) / Flutter (mobile)</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Backend: Django (Python) or Node.js</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Database: MySQL or MongoDB</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AI/ML: For personalized learning (optional advanced feature)</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Offline Mode: Service Workers &amp; local caching for poor connectivity</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Hosting: AWS / Azure (if deploying online)</a:t>
            </a:r>
          </a:p>
          <a:p>
            <a:pPr marL="342900" lvl="0" indent="-190500" algn="just">
              <a:lnSpc>
                <a:spcPct val="200000"/>
              </a:lnSpc>
              <a:spcBef>
                <a:spcPts val="0"/>
              </a:spcBef>
              <a:buSzPct val="100000"/>
              <a:buNone/>
            </a:pPr>
            <a:endParaRPr lang="en-IN" sz="52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13756-380E-90B1-4DC2-D472C6A74D29}"/>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IN" dirty="0"/>
          </a:p>
        </p:txBody>
      </p:sp>
      <p:sp>
        <p:nvSpPr>
          <p:cNvPr id="3" name="Text Placeholder 2">
            <a:extLst>
              <a:ext uri="{FF2B5EF4-FFF2-40B4-BE49-F238E27FC236}">
                <a16:creationId xmlns:a16="http://schemas.microsoft.com/office/drawing/2014/main" id="{DE372A2D-D515-3289-80EE-2B71AD299DCD}"/>
              </a:ext>
            </a:extLst>
          </p:cNvPr>
          <p:cNvSpPr>
            <a:spLocks noGrp="1"/>
          </p:cNvSpPr>
          <p:nvPr>
            <p:ph type="body" idx="1"/>
          </p:nvPr>
        </p:nvSpPr>
        <p:spPr>
          <a:xfrm>
            <a:off x="812800" y="1082711"/>
            <a:ext cx="10009275" cy="4283109"/>
          </a:xfrm>
        </p:spPr>
        <p:txBody>
          <a:bodyPr>
            <a:normAutofit fontScale="55000" lnSpcReduction="20000"/>
          </a:bodyPr>
          <a:lstStyle/>
          <a:p>
            <a:pPr marL="342900" lvl="0" indent="-190500" algn="just">
              <a:lnSpc>
                <a:spcPct val="200000"/>
              </a:lnSpc>
              <a:spcBef>
                <a:spcPts val="0"/>
              </a:spcBef>
              <a:buSzPct val="100000"/>
              <a:buNone/>
            </a:pPr>
            <a:r>
              <a:rPr lang="en-IN" sz="3600" b="1" dirty="0">
                <a:latin typeface="Times New Roman" panose="02020603050405020304" pitchFamily="18" charset="0"/>
                <a:ea typeface="Cambria" panose="02040503050406030204" pitchFamily="18" charset="0"/>
                <a:cs typeface="Times New Roman" panose="02020603050405020304" pitchFamily="18" charset="0"/>
              </a:rPr>
              <a:t>Core Components:</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User Interface: Web portal + Mobile app</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Mentor Module: Assign mentors, schedule sessions</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Learning Module: Upload and access digital content</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Progress Tracker: Track and visualize student performance</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Offline Mode: Download lessons for no-internet access</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Job &amp; Scheme Portal: Share employment and scholarship details</a:t>
            </a:r>
          </a:p>
          <a:p>
            <a:endParaRPr lang="en-IN" dirty="0"/>
          </a:p>
        </p:txBody>
      </p:sp>
    </p:spTree>
    <p:extLst>
      <p:ext uri="{BB962C8B-B14F-4D97-AF65-F5344CB8AC3E}">
        <p14:creationId xmlns:p14="http://schemas.microsoft.com/office/powerpoint/2010/main" val="3180485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71751-B7F0-6720-D293-8114EF7E9D9E}"/>
              </a:ext>
            </a:extLst>
          </p:cNvPr>
          <p:cNvSpPr>
            <a:spLocks noGrp="1"/>
          </p:cNvSpPr>
          <p:nvPr>
            <p:ph type="title"/>
          </p:nvPr>
        </p:nvSpPr>
        <p:spPr>
          <a:xfrm>
            <a:off x="964642" y="274638"/>
            <a:ext cx="10516158" cy="487500"/>
          </a:xfrm>
        </p:spPr>
        <p:txBody>
          <a:bodyPr/>
          <a:lstStyle/>
          <a:p>
            <a:r>
              <a:rPr lang="en-IN" dirty="0">
                <a:latin typeface="Times New Roman" panose="02020603050405020304" pitchFamily="18" charset="0"/>
                <a:cs typeface="Times New Roman" panose="02020603050405020304" pitchFamily="18" charset="0"/>
              </a:rPr>
              <a:t>Innovation or Novel Contributions</a:t>
            </a:r>
          </a:p>
        </p:txBody>
      </p:sp>
      <p:sp>
        <p:nvSpPr>
          <p:cNvPr id="5" name="TextBox 4">
            <a:extLst>
              <a:ext uri="{FF2B5EF4-FFF2-40B4-BE49-F238E27FC236}">
                <a16:creationId xmlns:a16="http://schemas.microsoft.com/office/drawing/2014/main" id="{2A946AB5-E4D8-820D-D11E-73B3B61A5C2E}"/>
              </a:ext>
            </a:extLst>
          </p:cNvPr>
          <p:cNvSpPr txBox="1"/>
          <p:nvPr/>
        </p:nvSpPr>
        <p:spPr>
          <a:xfrm>
            <a:off x="662075" y="1228397"/>
            <a:ext cx="7883768" cy="4093428"/>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1.  Digital Integration for Personalized Learning</a:t>
            </a:r>
          </a:p>
          <a:p>
            <a:r>
              <a:rPr lang="en-IN" sz="2000" dirty="0">
                <a:latin typeface="Times New Roman" panose="02020603050405020304" pitchFamily="18" charset="0"/>
                <a:cs typeface="Times New Roman" panose="02020603050405020304" pitchFamily="18" charset="0"/>
              </a:rPr>
              <a:t>   Introducing a web-based platform that adapts learning materials to each student’s pace and level, making education more personalized and effective.</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Data-Driven Performance Tracking</a:t>
            </a:r>
          </a:p>
          <a:p>
            <a:r>
              <a:rPr lang="en-IN" sz="2000" dirty="0">
                <a:latin typeface="Times New Roman" panose="02020603050405020304" pitchFamily="18" charset="0"/>
                <a:cs typeface="Times New Roman" panose="02020603050405020304" pitchFamily="18" charset="0"/>
              </a:rPr>
              <a:t>   Implementing analytics to track student performance, identify weak areas, and provide actionable insights for teachers and parents.</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Gamification of Learning</a:t>
            </a:r>
          </a:p>
          <a:p>
            <a:r>
              <a:rPr lang="en-IN" sz="2000" dirty="0">
                <a:latin typeface="Times New Roman" panose="02020603050405020304" pitchFamily="18" charset="0"/>
                <a:cs typeface="Times New Roman" panose="02020603050405020304" pitchFamily="18" charset="0"/>
              </a:rPr>
              <a:t>   Applying game elements like rewards, quizzes, and challenges to motivate students and increase engagement.</a:t>
            </a:r>
          </a:p>
        </p:txBody>
      </p:sp>
    </p:spTree>
    <p:extLst>
      <p:ext uri="{BB962C8B-B14F-4D97-AF65-F5344CB8AC3E}">
        <p14:creationId xmlns:p14="http://schemas.microsoft.com/office/powerpoint/2010/main" val="545658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94D8-E90D-D344-3063-933D99140A5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Innovation or Novel Contributions(contd..)</a:t>
            </a:r>
          </a:p>
        </p:txBody>
      </p:sp>
      <p:sp>
        <p:nvSpPr>
          <p:cNvPr id="3" name="Text Placeholder 2">
            <a:extLst>
              <a:ext uri="{FF2B5EF4-FFF2-40B4-BE49-F238E27FC236}">
                <a16:creationId xmlns:a16="http://schemas.microsoft.com/office/drawing/2014/main" id="{D281FFA7-8D39-33EE-D953-F05E7159CCC5}"/>
              </a:ext>
            </a:extLst>
          </p:cNvPr>
          <p:cNvSpPr>
            <a:spLocks noGrp="1"/>
          </p:cNvSpPr>
          <p:nvPr>
            <p:ph type="body" idx="1"/>
          </p:nvPr>
        </p:nvSpPr>
        <p:spPr/>
        <p:txBody>
          <a:bodyPr>
            <a:normAutofit/>
          </a:bodyPr>
          <a:lstStyle/>
          <a:p>
            <a:pPr marL="76200" indent="0">
              <a:buNone/>
            </a:pPr>
            <a:r>
              <a:rPr lang="en-US" sz="2000" b="1" dirty="0">
                <a:latin typeface="Times New Roman" panose="02020603050405020304" pitchFamily="18" charset="0"/>
                <a:cs typeface="Times New Roman" panose="02020603050405020304" pitchFamily="18" charset="0"/>
              </a:rPr>
              <a:t>4.  Efficient Communication Channels</a:t>
            </a:r>
          </a:p>
          <a:p>
            <a:pPr marL="76200" indent="0">
              <a:buNone/>
            </a:pPr>
            <a:r>
              <a:rPr lang="en-US" sz="2000" dirty="0">
                <a:latin typeface="Times New Roman" panose="02020603050405020304" pitchFamily="18" charset="0"/>
                <a:cs typeface="Times New Roman" panose="02020603050405020304" pitchFamily="18" charset="0"/>
              </a:rPr>
              <a:t>   Creating seamless communication between teachers, students, and parents through notifications, progress reports, and feedback systems.</a:t>
            </a:r>
          </a:p>
          <a:p>
            <a:endParaRPr lang="en-US" sz="2000" dirty="0">
              <a:latin typeface="Times New Roman" panose="02020603050405020304" pitchFamily="18" charset="0"/>
              <a:cs typeface="Times New Roman" panose="02020603050405020304" pitchFamily="18" charset="0"/>
            </a:endParaRPr>
          </a:p>
          <a:p>
            <a:pPr marL="76200" indent="0">
              <a:buNone/>
            </a:pPr>
            <a:r>
              <a:rPr lang="en-US" sz="2000" b="1" dirty="0">
                <a:latin typeface="Times New Roman" panose="02020603050405020304" pitchFamily="18" charset="0"/>
                <a:cs typeface="Times New Roman" panose="02020603050405020304" pitchFamily="18" charset="0"/>
              </a:rPr>
              <a:t>5.  Resource Optimization</a:t>
            </a:r>
          </a:p>
          <a:p>
            <a:pPr marL="76200" indent="0">
              <a:buNone/>
            </a:pPr>
            <a:r>
              <a:rPr lang="en-US" sz="2000" dirty="0">
                <a:latin typeface="Times New Roman" panose="02020603050405020304" pitchFamily="18" charset="0"/>
                <a:cs typeface="Times New Roman" panose="02020603050405020304" pitchFamily="18" charset="0"/>
              </a:rPr>
              <a:t>   Reducing administrative workload and optimizing classroom resources with  automated scheduling and digital content management.</a:t>
            </a:r>
          </a:p>
          <a:p>
            <a:endParaRPr lang="en-US" sz="2000" dirty="0">
              <a:latin typeface="Times New Roman" panose="02020603050405020304" pitchFamily="18" charset="0"/>
              <a:cs typeface="Times New Roman" panose="02020603050405020304" pitchFamily="18" charset="0"/>
            </a:endParaRPr>
          </a:p>
          <a:p>
            <a:pPr marL="76200" indent="0">
              <a:buNone/>
            </a:pPr>
            <a:r>
              <a:rPr lang="en-US" sz="2000" b="1" dirty="0">
                <a:latin typeface="Times New Roman" panose="02020603050405020304" pitchFamily="18" charset="0"/>
                <a:cs typeface="Times New Roman" panose="02020603050405020304" pitchFamily="18" charset="0"/>
              </a:rPr>
              <a:t>6.  Accessibility &amp; Inclusivity</a:t>
            </a:r>
          </a:p>
          <a:p>
            <a:pPr marL="76200" indent="0">
              <a:buNone/>
            </a:pPr>
            <a:r>
              <a:rPr lang="en-US" sz="2000" dirty="0">
                <a:latin typeface="Times New Roman" panose="02020603050405020304" pitchFamily="18" charset="0"/>
                <a:cs typeface="Times New Roman" panose="02020603050405020304" pitchFamily="18" charset="0"/>
              </a:rPr>
              <a:t>   Ensuring that students with special needs or remote learners can access education equally through the platform.</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2310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Times New Roman" panose="02020603050405020304" pitchFamily="18" charset="0"/>
                <a:ea typeface="Cambria" panose="02040503050406030204" pitchFamily="18" charset="0"/>
                <a:cs typeface="Times New Roman" panose="02020603050405020304" pitchFamily="18" charset="0"/>
              </a:rPr>
              <a:t>The Github link provided should have public access permission.</a:t>
            </a:r>
          </a:p>
          <a:p>
            <a:pPr marL="342900" indent="-190500" algn="just">
              <a:spcBef>
                <a:spcPts val="0"/>
              </a:spcBef>
              <a:buSzPct val="100000"/>
              <a:buFont typeface="Arial"/>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Github</a:t>
            </a:r>
            <a:r>
              <a:rPr lang="en-US" b="1"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 Link</a:t>
            </a:r>
          </a:p>
          <a:p>
            <a:pPr marL="342900" indent="-190500" algn="just">
              <a:spcBef>
                <a:spcPts val="0"/>
              </a:spcBef>
              <a:buSzPct val="100000"/>
              <a:buNone/>
            </a:pPr>
            <a:r>
              <a:rPr lang="en-US" sz="1900" dirty="0">
                <a:latin typeface="Times New Roman" panose="02020603050405020304" pitchFamily="18" charset="0"/>
                <a:cs typeface="Times New Roman" panose="02020603050405020304" pitchFamily="18" charset="0"/>
                <a:hlinkClick r:id="rId3"/>
              </a:rPr>
              <a:t>Capstoneproject-PSCS32/PSCS_32-CAPSTONE-PROJECT-: System to improve education in rural areas</a:t>
            </a:r>
            <a:endParaRPr lang="en-US" sz="1900"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3" name="Picture 2" descr="A graph with blue squares&#10;&#10;AI-generated content may be incorrect.">
            <a:extLst>
              <a:ext uri="{FF2B5EF4-FFF2-40B4-BE49-F238E27FC236}">
                <a16:creationId xmlns:a16="http://schemas.microsoft.com/office/drawing/2014/main" id="{2F410ABC-5786-918F-4ABF-0EA7471FC2CD}"/>
              </a:ext>
            </a:extLst>
          </p:cNvPr>
          <p:cNvPicPr>
            <a:picLocks noChangeAspect="1"/>
          </p:cNvPicPr>
          <p:nvPr/>
        </p:nvPicPr>
        <p:blipFill>
          <a:blip r:embed="rId3"/>
          <a:stretch>
            <a:fillRect/>
          </a:stretch>
        </p:blipFill>
        <p:spPr>
          <a:xfrm>
            <a:off x="944544" y="1001922"/>
            <a:ext cx="8711922" cy="4854155"/>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3A194-6711-7F3C-36E1-547478687DCD}"/>
              </a:ext>
            </a:extLst>
          </p:cNvPr>
          <p:cNvSpPr>
            <a:spLocks noGrp="1"/>
          </p:cNvSpPr>
          <p:nvPr>
            <p:ph type="title"/>
          </p:nvPr>
        </p:nvSpPr>
        <p:spPr/>
        <p:txBody>
          <a:bodyPr/>
          <a:lstStyle/>
          <a:p>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9FB75307-697A-A96F-64EB-948425474ABC}"/>
              </a:ext>
            </a:extLst>
          </p:cNvPr>
          <p:cNvSpPr>
            <a:spLocks noGrp="1" noChangeArrowheads="1"/>
          </p:cNvSpPr>
          <p:nvPr>
            <p:ph type="body" idx="1"/>
          </p:nvPr>
        </p:nvSpPr>
        <p:spPr bwMode="auto">
          <a:xfrm>
            <a:off x="353367" y="1136089"/>
            <a:ext cx="11485265" cy="4585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505" tIns="101568" rIns="91440" bIns="50784"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2286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2286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2286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2286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2286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2286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2286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t>[1] Sharma and R. Singh, “Mobile learning for rural education,” IEEE Access, vol. 9, pp. 12345–12352, 2021.</a:t>
            </a:r>
            <a:endParaRPr kumimoji="0" lang="en-US" altLang="en-US" sz="1200" i="1"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b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br>
            <a: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t>[2] P. Verma, S. Gupta, and R. Mehta, “Cloud-based education systems: Opportunities and challenges,” IEEE Trans. Learning Technologies, vol. 13, no. 2, pp. 112–120, 2019.</a:t>
            </a:r>
            <a:endParaRPr kumimoji="0" lang="en-US" altLang="en-US" sz="1200" i="1"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b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br>
            <a: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t>[3] S. </a:t>
            </a:r>
            <a:r>
              <a:rPr kumimoji="0" lang="en-US" altLang="en-US" sz="1200" i="0" u="none" strike="noStrike" cap="none" normalizeH="0" baseline="0" dirty="0" err="1">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t>Pozdniakov</a:t>
            </a:r>
            <a: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t>, R. Martinez-Maldonado, S. Singh, P. Chen, D. Richardson, T. Olivier, and D. </a:t>
            </a:r>
            <a:r>
              <a:rPr kumimoji="0" lang="en-US" altLang="en-US" sz="1200" i="0" u="none" strike="noStrike" cap="none" normalizeH="0" baseline="0" dirty="0" err="1">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t>Gasevic</a:t>
            </a:r>
            <a: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t>, “Question-driven learning analytics: Designing a teacher dashboard for online breakout rooms,” in Proc. IEEE Int. Conf. Advanced Learning Technologies (ICALT), 2021, pp. 176–178.</a:t>
            </a:r>
            <a:endParaRPr kumimoji="0" lang="en-US" altLang="en-US" sz="1200" i="1"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b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br>
            <a: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t>[4] S. Lee-Cultura, K. Sharma, and M. N. Giannakos, “Multimodal Teacher Dashboards: Challenges and Opportunities of Enhancing Teacher Insights Through a Case Study,” IEEE Trans. Learning Technologies, vol. 17, no. 2, pp. 181–201, 2024.</a:t>
            </a:r>
            <a:endParaRPr kumimoji="0" lang="en-US" altLang="en-US" sz="1200" i="1"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b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br>
            <a: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t>[5] M. Ali, T. Baker, and Y. Huang, “Offline-first mobile applications: Design and implementation challenges,” IEEE Pervasive Computing, vol. 18, no. 3, pp. 14–22, 2019.</a:t>
            </a:r>
            <a:endParaRPr kumimoji="0" lang="en-US" altLang="en-US" sz="1200" i="1"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b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br>
            <a: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t>[6] A. Kebede and S. Bhattacharya, “Student Engagement Awareness Dashboard for Asynchronous E-learning Environment,” in ICT Systems and Sustainability, LNNS, vol. 321, Springer, 2022, pp. 759–771.</a:t>
            </a:r>
            <a:endParaRPr kumimoji="0" lang="en-US" altLang="en-US" sz="1200" i="1"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b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br>
            <a: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t>[7] V. A., K. Bharath, and T. N. Anitha, “A Novel Video-on-Demand System Architecture for E-Learning in Rural Regions of India,” in Proc. Int. Conf. Computational Intelligence and Applications (ICCIA), 2012, pp. 1–5.</a:t>
            </a:r>
            <a:endParaRPr kumimoji="0" lang="en-US" altLang="en-US" sz="1200" i="1"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b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br>
            <a: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t>[8] UNESCO, Education for All Global Monitoring Report, Paris, France: UNESCO, 2020.</a:t>
            </a:r>
            <a:endParaRPr kumimoji="0" lang="en-US" altLang="en-US" sz="1200" i="1"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b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br>
            <a: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t>[9] World Bank, “Digital Inclusion in Education,” Washington, DC, 2021.</a:t>
            </a:r>
            <a:endParaRPr kumimoji="0" lang="en-US" altLang="en-US" sz="1200" i="1"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b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br>
            <a:r>
              <a:rPr kumimoji="0" lang="en-US" altLang="en-US" sz="1200" i="0"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rPr>
              <a:t>[10] J. Brown, A. Smith, and L. White, “Bridging the digital divide: ICT adoption in underserved communities,” IEEE Internet Computing, vol. 24, no. 5, pp. 44–50, 2020.</a:t>
            </a:r>
            <a:endParaRPr kumimoji="0" lang="en-US" altLang="en-US" sz="1200" i="1" u="none" strike="noStrike" cap="none" normalizeH="0" baseline="0" dirty="0">
              <a:ln>
                <a:noFill/>
              </a:ln>
              <a:solidFill>
                <a:schemeClr val="bg2"/>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en-US" altLang="en-US" sz="1200" b="1" i="1"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52991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511</TotalTime>
  <Words>1328</Words>
  <Application>Microsoft Office PowerPoint</Application>
  <PresentationFormat>Widescreen</PresentationFormat>
  <Paragraphs>135</Paragraphs>
  <Slides>15</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Cambria</vt:lpstr>
      <vt:lpstr>Times New Roman</vt:lpstr>
      <vt:lpstr>Verdana</vt:lpstr>
      <vt:lpstr>Wingdings</vt:lpstr>
      <vt:lpstr>Bioinformatics</vt:lpstr>
      <vt:lpstr>Ideate and Implement a System to Enhance the Quality of Education in Rural Areas</vt:lpstr>
      <vt:lpstr>Problem Statement Number:  PSCS_32 </vt:lpstr>
      <vt:lpstr>Objectives </vt:lpstr>
      <vt:lpstr>Background and Related work for title Selection</vt:lpstr>
      <vt:lpstr>Background and Related work for title Selection (contd….) </vt:lpstr>
      <vt:lpstr>Analysis of Problem Statement </vt:lpstr>
      <vt:lpstr>Analysis of Problem Statement (contd...)</vt:lpstr>
      <vt:lpstr>Analysis of Problem Statement (contd...)</vt:lpstr>
      <vt:lpstr>Analysis of Problem Statement (contd...)</vt:lpstr>
      <vt:lpstr>Innovation or Novel Contributions</vt:lpstr>
      <vt:lpstr>Innovation or Novel Contributions(contd..)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VARSHA B</cp:lastModifiedBy>
  <cp:revision>44</cp:revision>
  <dcterms:modified xsi:type="dcterms:W3CDTF">2025-11-30T06:11:00Z</dcterms:modified>
</cp:coreProperties>
</file>